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62" r:id="rId2"/>
    <p:sldId id="263" r:id="rId14"/>
    <p:sldId id="264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842000" y="889000"/>
            <a:ext cx="4826000" cy="5080000"/>
          </a:xfrm>
          <a:prstGeom prst="hexagon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Segoe UI"/>
              </a:defRPr>
            </a:pPr>
          </a:p>
        </p:txBody>
      </p:sp>
      <p:pic>
        <p:nvPicPr>
          <p:cNvPr id="3" name="Picture 2" descr="sih_bulb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524000"/>
            <a:ext cx="3111500" cy="3327400"/>
          </a:xfrm>
          <a:prstGeom prst="rect">
            <a:avLst/>
          </a:prstGeom>
        </p:spPr>
      </p:pic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500" y="254000"/>
            <a:ext cx="9144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97D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914400"/>
            <a:ext cx="9144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Segoe UI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714500"/>
            <a:ext cx="6350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ID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26189</a:t>
            </a:r>
          </a:p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Title - </a:t>
            </a:r>
            <a:r>
              <a:rPr b="0" sz="1750">
                <a:solidFill>
                  <a:srgbClr val="000000"/>
                </a:solidFill>
                <a:latin typeface="Calibri"/>
              </a:rPr>
              <a:t>AI-Powered Criminal Network Analysis System</a:t>
            </a:r>
          </a:p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Theme - </a:t>
            </a:r>
            <a:r>
              <a:rPr b="1" sz="1750">
                <a:solidFill>
                  <a:srgbClr val="000000"/>
                </a:solidFill>
                <a:latin typeface="Calibri"/>
              </a:rPr>
              <a:t>Blockchain &amp; Cybersecurity</a:t>
            </a:r>
          </a:p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PS Category - </a:t>
            </a:r>
            <a:r>
              <a:rPr b="1" sz="1750">
                <a:solidFill>
                  <a:srgbClr val="000000"/>
                </a:solidFill>
                <a:latin typeface="Calibri"/>
              </a:rPr>
              <a:t>Software</a:t>
            </a:r>
          </a:p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ID - </a:t>
            </a:r>
            <a:r>
              <a:rPr b="1" sz="1750">
                <a:solidFill>
                  <a:srgbClr val="000000"/>
                </a:solidFill>
                <a:latin typeface="Calibri"/>
              </a:rPr>
              <a:t>SIH2026-ST-842</a:t>
            </a:r>
          </a:p>
          <a:p>
            <a:pPr>
              <a:spcBef>
                <a:spcPts val="1300"/>
              </a:spcBef>
              <a:spcAft>
                <a:spcPts val="200"/>
              </a:spcAft>
              <a:defRPr>
                <a:latin typeface="Segoe UI"/>
              </a:defRPr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Name (Registered on portal)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Stryker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IDEA TITLE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77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0C0"/>
                </a:solidFill>
                <a:latin typeface="Segoe UI"/>
              </a:defRPr>
            </a:pPr>
            <a:r>
              <a:t>IDEA / SOLUTION :</a:t>
            </a:r>
          </a:p>
          <a:p>
            <a:pPr>
              <a:spcAft>
                <a:spcPts val="800"/>
              </a:spcAft>
              <a:defRPr sz="1200" b="1">
                <a:solidFill>
                  <a:srgbClr val="0E2A55"/>
                </a:solidFill>
                <a:latin typeface="Segoe UI"/>
              </a:defRPr>
            </a:pPr>
            <a:r>
              <a:t>SENTINEL: AI-Powered Platform for Criminal Network Analysis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Combines Police Clues: </a:t>
            </a:r>
            <a:r>
              <a:rPr sz="1100">
                <a:solidFill>
                  <a:srgbClr val="1E293B"/>
                </a:solidFill>
                <a:latin typeface="Segoe UI"/>
              </a:rPr>
              <a:t>Automatically merges paper FIRs, phone call logs, and bank accounts into one unified visual map.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Catches Shadow Gang Bosses: </a:t>
            </a:r>
            <a:r>
              <a:rPr sz="1100">
                <a:solidFill>
                  <a:srgbClr val="1E293B"/>
                </a:solidFill>
                <a:latin typeface="Segoe UI"/>
              </a:rPr>
              <a:t>Graph AI algorithms uncover hidden leaders who order crimes without making direct phone calls.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Tracks Dirty Money: </a:t>
            </a:r>
            <a:r>
              <a:rPr sz="1100">
                <a:solidFill>
                  <a:srgbClr val="1E293B"/>
                </a:solidFill>
                <a:latin typeface="Segoe UI"/>
              </a:rPr>
              <a:t>Detects circular Hawala money loops and layered micro-transfers passed through dummy bank accounts.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Pinpoints Burner Phones: </a:t>
            </a:r>
            <a:r>
              <a:rPr sz="1100">
                <a:solidFill>
                  <a:srgbClr val="1E293B"/>
                </a:solidFill>
                <a:latin typeface="Segoe UI"/>
              </a:rPr>
              <a:t>Flags SIM card swapping in shared phone handsets and secret nocturnal suspect meetings (&lt;500m).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CEO Prime Agent Swarm: </a:t>
            </a:r>
            <a:r>
              <a:rPr sz="1100">
                <a:solidFill>
                  <a:srgbClr val="1E293B"/>
                </a:solidFill>
                <a:latin typeface="Segoe UI"/>
              </a:rPr>
              <a:t>Autonomous AI commander directing specialized smart assistants to analyze cases 24/7.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0E2A55"/>
                </a:solidFill>
                <a:latin typeface="Segoe UI"/>
              </a:rPr>
              <a:t>• Court-Certified Proof: </a:t>
            </a:r>
            <a:r>
              <a:rPr sz="1100">
                <a:solidFill>
                  <a:srgbClr val="1E293B"/>
                </a:solidFill>
                <a:latin typeface="Segoe UI"/>
              </a:rPr>
              <a:t>Seals evidence with SHA-256 blockchain hashing meeting 100% Section 63 BSA legal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491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0C0"/>
                </a:solidFill>
                <a:latin typeface="Segoe UI"/>
              </a:defRPr>
            </a:pPr>
            <a:r>
              <a:t>HOW IT SOLVES POLICE CHALLENGES :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❖ Breaks Data Silos Across Stations 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Police currently investigate FIRs, phone call logs, and bank statements in separate files. SENTINEL merges them into one 360° interactive suspect map in seconds.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❖ Exposes Masterminds Behind Operatives 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Crime kingpins rarely get their hands dirty or use known phones. By analyzing connection pathways, the AI pinpoints the hidden mastermind brokers.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❖ Autonomous AI Investigation Swarm 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Replaces slow manual paperwork. The CEO Prime Agent correlates clues across cases, calculates 0–100 danger scores, and alerts investigating officers instantly.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❖ Guarantees Strong Court Convictions 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Digital evidence often fails in court due to disputed tampering. SENTINEL generates tamper-proof PDF dossiers backed by blockchain verification for Section 63 BSA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8" name="Picture 7" descr="slide_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5524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397000"/>
            <a:ext cx="50165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70C0"/>
                </a:solidFill>
                <a:latin typeface="Segoe UI"/>
              </a:defRPr>
            </a:pPr>
            <a:r>
              <a:t>Technical &amp; Station Feasibility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Runs on Standard Station PCs: </a:t>
            </a:r>
            <a:r>
              <a:rPr sz="1050">
                <a:solidFill>
                  <a:srgbClr val="1E293B"/>
                </a:solidFill>
                <a:latin typeface="Segoe UI"/>
              </a:rPr>
              <a:t>Operates smoothly on normal police desktop computers without expensive cloud GPU clusters.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Direct Police Data Compatibility: </a:t>
            </a:r>
            <a:r>
              <a:rPr sz="1050">
                <a:solidFill>
                  <a:srgbClr val="1E293B"/>
                </a:solidFill>
                <a:latin typeface="Segoe UI"/>
              </a:rPr>
              <a:t>Natively ingests standard CCTNS FIR exports, telecom CDR spreadsheets, and bank statements.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Sub-Second Graph Query Speed: </a:t>
            </a:r>
            <a:r>
              <a:rPr sz="1050">
                <a:solidFill>
                  <a:srgbClr val="1E293B"/>
                </a:solidFill>
                <a:latin typeface="Segoe UI"/>
              </a:rPr>
              <a:t>Traverses complex networks of 10,000+ suspects in under 250 milliseconds (&lt;0.25s).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Zero-Gas Blockchain Security: </a:t>
            </a:r>
            <a:r>
              <a:rPr sz="1050">
                <a:solidFill>
                  <a:srgbClr val="1E293B"/>
                </a:solidFill>
                <a:latin typeface="Segoe UI"/>
              </a:rPr>
              <a:t>Cryptographic SHA-256 hash chains guarantee court evidence integrity without cloud fees.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1206500"/>
            <a:ext cx="5524500" cy="190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1333500"/>
            <a:ext cx="5016500" cy="165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45309"/>
                </a:solidFill>
                <a:latin typeface="Segoe UI"/>
              </a:defRPr>
            </a:pPr>
            <a:r>
              <a:t>Economic Feasibility &amp; Manpower Savings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E2A55"/>
                </a:solidFill>
                <a:latin typeface="Segoe UI"/>
              </a:rPr>
              <a:t>• 100% Open-Source Foundation: </a:t>
            </a:r>
            <a:r>
              <a:rPr sz="1000">
                <a:solidFill>
                  <a:srgbClr val="1E293B"/>
                </a:solidFill>
                <a:latin typeface="Segoe UI"/>
              </a:rPr>
              <a:t>Built using FastAPI, NetworkX, and React 19—zero expensive recurring software licenses.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E2A55"/>
                </a:solidFill>
                <a:latin typeface="Segoe UI"/>
              </a:rPr>
              <a:t>• Compresses Weeks to Seconds: </a:t>
            </a:r>
            <a:r>
              <a:rPr sz="1000">
                <a:solidFill>
                  <a:srgbClr val="1E293B"/>
                </a:solidFill>
                <a:latin typeface="Segoe UI"/>
              </a:rPr>
              <a:t>Replaces weeks of manual paper cross-checking with instant automated intelligence.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E2A55"/>
                </a:solidFill>
                <a:latin typeface="Segoe UI"/>
              </a:rPr>
              <a:t>• Multiplies Police Productivity: </a:t>
            </a:r>
            <a:r>
              <a:rPr sz="1000">
                <a:solidFill>
                  <a:srgbClr val="1E293B"/>
                </a:solidFill>
                <a:latin typeface="Segoe UI"/>
              </a:rPr>
              <a:t>Allows lean investigative teams to crack large, multi-state organized crime syndicates.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3302000"/>
            <a:ext cx="55245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3454400"/>
            <a:ext cx="5016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Real-World Challenges &amp; Practical Solutions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E2A55"/>
                </a:solidFill>
                <a:latin typeface="Segoe UI"/>
              </a:rPr>
              <a:t>• Messy &amp; Dialect FIR Text: </a:t>
            </a:r>
            <a:r>
              <a:rPr sz="1000">
                <a:solidFill>
                  <a:srgbClr val="1E293B"/>
                </a:solidFill>
                <a:latin typeface="Segoe UI"/>
              </a:rPr>
              <a:t>Indian police FIRs contain spelling errors and local slang. Solved with custom Legal AI Named Entity Recognition + fuzzy matching (&gt;88% accuracy).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E2A55"/>
                </a:solidFill>
                <a:latin typeface="Segoe UI"/>
              </a:rPr>
              <a:t>• Massive Telecom &amp; Bank Volume: </a:t>
            </a:r>
            <a:r>
              <a:rPr sz="1000">
                <a:solidFill>
                  <a:srgbClr val="1E293B"/>
                </a:solidFill>
                <a:latin typeface="Segoe UI"/>
              </a:rPr>
              <a:t>Handling millions of call and transfer records without lag. Solved via indexed SQLite WAL and fast in-memory graph caching.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6667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397000"/>
            <a:ext cx="60960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600" b="1">
                <a:solidFill>
                  <a:srgbClr val="0070C0"/>
                </a:solidFill>
                <a:latin typeface="Segoe UI"/>
              </a:defRPr>
            </a:pPr>
            <a:r>
              <a:t>Benefits Across the Criminal Justice System</a:t>
            </a:r>
          </a:p>
          <a:p>
            <a:pPr>
              <a:spcAft>
                <a:spcPts val="400"/>
              </a:spcAft>
              <a:defRPr sz="1200" b="1">
                <a:solidFill>
                  <a:srgbClr val="0E2A55"/>
                </a:solidFill>
                <a:latin typeface="Segoe UI"/>
              </a:defRPr>
            </a:pPr>
            <a:r>
              <a:t>Law Enforcement &amp; Frontline Police Officers 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1-Click Suspect Network Expansion: </a:t>
            </a:r>
            <a:r>
              <a:rPr sz="1050">
                <a:solidFill>
                  <a:srgbClr val="1E293B"/>
                </a:solidFill>
                <a:latin typeface="Segoe UI"/>
              </a:rPr>
              <a:t>Instantly reveals hidden gang associates, burner phones, and money trails.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Unmasks Shadow Kingpins: </a:t>
            </a:r>
            <a:r>
              <a:rPr sz="1050">
                <a:solidFill>
                  <a:srgbClr val="1E293B"/>
                </a:solidFill>
                <a:latin typeface="Segoe UI"/>
              </a:rPr>
              <a:t>Exposes gang bosses who orchestrate crimes without making direct phone calls.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Multi-Station Collaboration: </a:t>
            </a:r>
            <a:r>
              <a:rPr sz="1050">
                <a:solidFill>
                  <a:srgbClr val="1E293B"/>
                </a:solidFill>
                <a:latin typeface="Segoe UI"/>
              </a:rPr>
              <a:t>Breaks jurisdiction barriers by linking shared vehicles, weapons, and safehouses.</a:t>
            </a:r>
          </a:p>
          <a:p>
            <a:pPr>
              <a:spcAft>
                <a:spcPts val="400"/>
              </a:spcAft>
              <a:defRPr sz="1200" b="1">
                <a:solidFill>
                  <a:srgbClr val="0E2A55"/>
                </a:solidFill>
                <a:latin typeface="Segoe UI"/>
              </a:defRPr>
            </a:pPr>
            <a:r>
              <a:t>Crime Intelligence Analysts 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Autonomous Multi-Agent Swarm: </a:t>
            </a:r>
            <a:r>
              <a:rPr sz="1050">
                <a:solidFill>
                  <a:srgbClr val="1E293B"/>
                </a:solidFill>
                <a:latin typeface="Segoe UI"/>
              </a:rPr>
              <a:t>CEO Prime Agent automates tedious cross-referencing across FIRs and telecom logs.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Automated 0–100 Threat Scoring: </a:t>
            </a:r>
            <a:r>
              <a:rPr sz="1050">
                <a:solidFill>
                  <a:srgbClr val="1E293B"/>
                </a:solidFill>
                <a:latin typeface="Segoe UI"/>
              </a:rPr>
              <a:t>Prioritizes violent offenders and automatically detects Hawala laundering cycles.</a:t>
            </a:r>
          </a:p>
          <a:p>
            <a:pPr>
              <a:spcAft>
                <a:spcPts val="400"/>
              </a:spcAft>
              <a:defRPr sz="1200" b="1">
                <a:solidFill>
                  <a:srgbClr val="0E2A55"/>
                </a:solidFill>
                <a:latin typeface="Segoe UI"/>
              </a:defRPr>
            </a:pPr>
            <a:r>
              <a:t>Judiciary &amp; Legal Prosecution 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100% Section 63 BSA Compliance: </a:t>
            </a:r>
            <a:r>
              <a:rPr sz="1050">
                <a:solidFill>
                  <a:srgbClr val="1E293B"/>
                </a:solidFill>
                <a:latin typeface="Segoe UI"/>
              </a:rPr>
              <a:t>Cryptographic SHA-256 blockchain proof guarantees court admissibility.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E2A55"/>
                </a:solidFill>
                <a:latin typeface="Segoe UI"/>
              </a:rPr>
              <a:t>• Rapid Charge-Sheet Preparation: </a:t>
            </a:r>
            <a:r>
              <a:rPr sz="1050">
                <a:solidFill>
                  <a:srgbClr val="1E293B"/>
                </a:solidFill>
                <a:latin typeface="Segoe UI"/>
              </a:rPr>
              <a:t>Generates certified forensic PDF dossiers that accelerate trials and eliminate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1841500"/>
            <a:ext cx="4381500" cy="317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0" y="1968500"/>
            <a:ext cx="3873499" cy="292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800"/>
              </a:spcAft>
              <a:defRPr sz="1500" b="1" i="1">
                <a:solidFill>
                  <a:srgbClr val="0070C0"/>
                </a:solidFill>
                <a:latin typeface="Segoe UI"/>
              </a:defRPr>
            </a:pPr>
            <a:r>
              <a:t>“SENTINEL transforms fragmented police records into real-time operational clarity—unmasking shadow kingpins, stopping dirty money trails, and delivering faster, bulletproof convictions.”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0E2A55"/>
                </a:solidFill>
                <a:latin typeface="Segoe UI"/>
              </a:defRPr>
            </a:pPr>
            <a:r>
              <a:t>KEY OPERATIONAL OUTCOMES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  <a:latin typeface="Segoe UI"/>
              </a:rPr>
              <a:t>⚡ 90% Time Reduction : </a:t>
            </a:r>
            <a:r>
              <a:rPr sz="1050">
                <a:solidFill>
                  <a:srgbClr val="1E293B"/>
                </a:solidFill>
                <a:latin typeface="Segoe UI"/>
              </a:rPr>
              <a:t>From weeks of paper cross-checking to seconds of graph analytics.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  <a:latin typeface="Segoe UI"/>
              </a:rPr>
              <a:t>🎯 100% Chain-of-Custody : </a:t>
            </a:r>
            <a:r>
              <a:rPr sz="1050">
                <a:solidFill>
                  <a:srgbClr val="1E293B"/>
                </a:solidFill>
                <a:latin typeface="Segoe UI"/>
              </a:rPr>
              <a:t>Cryptographically sealed under Section 63 BSA for undisputed trials.</a:t>
            </a:r>
          </a:p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47857"/>
                </a:solidFill>
                <a:latin typeface="Segoe UI"/>
              </a:rPr>
              <a:t>🔍 Zero Kingpin Blindspots : </a:t>
            </a:r>
            <a:r>
              <a:rPr sz="1050">
                <a:solidFill>
                  <a:srgbClr val="1E293B"/>
                </a:solidFill>
                <a:latin typeface="Segoe UI"/>
              </a:rPr>
              <a:t>Algorithmic unmasking of shadow brokers coordinating street operatives.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RESEARCH, REFERENCES &amp; CONCLUSION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1905000"/>
            <a:ext cx="9652000" cy="31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070C0"/>
                </a:solidFill>
                <a:latin typeface="Segoe UI"/>
              </a:defRPr>
            </a:pPr>
            <a:r>
              <a:t>Academic, Legal &amp; Operational Frameworks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1. Network Science &amp; Covert Syndicate Analysis :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Betweenness Centrality (Freeman, 1977) &amp; PageRank algorithms optimized for identifying high-influence brokers and shadow leaders in criminal networks.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2. Multi-Agent Autonomous Intelligence :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Agency Swarm orchestration architecture dividing investigative labor among specialized autonomous agents (Data Intel, Network Analysis, Threat Scoring, Forensic Reporting).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3. Indian Statutory Forensic Standards :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Section 63 of Bharatiya Sakshya Adhiniyam (BSA, 2023) / Section 65B Indian Evidence Act compliant digital hash chains ensuring tamper-evident chain of custody.</a:t>
            </a:r>
          </a:p>
          <a:p>
            <a:pPr>
              <a:spcAft>
                <a:spcPts val="200"/>
              </a:spcAft>
              <a:defRPr sz="1150" b="1">
                <a:solidFill>
                  <a:srgbClr val="0E2A55"/>
                </a:solidFill>
                <a:latin typeface="Segoe UI"/>
              </a:defRPr>
            </a:pPr>
            <a:r>
              <a:t>4. Financial Crime &amp; Hawala Detection :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Financial Action Task Force (FATF) and Reserve Bank of India (RBI) typologies for detecting circular layering loops and smurfing transactions (&lt;₹50,000 threshold).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47857"/>
                </a:solidFill>
                <a:latin typeface="Segoe UI"/>
              </a:rPr>
              <a:t>⚡ Working Prototype Status: </a:t>
            </a:r>
            <a:r>
              <a:rPr sz="1150">
                <a:solidFill>
                  <a:srgbClr val="1E293B"/>
                </a:solidFill>
                <a:latin typeface="Segoe UI"/>
              </a:rPr>
              <a:t>Live full-stack FastAPI + React 19 platform pre-loaded with 372 suspect nodes and 869 evidence links. Ready for live demonstration.</a:t>
            </a:r>
          </a:p>
          <a:p>
            <a:pPr algn="ctr">
              <a:defRPr sz="1400" b="1">
                <a:solidFill>
                  <a:srgbClr val="0070C0"/>
                </a:solidFill>
                <a:latin typeface="Segoe UI"/>
              </a:defRPr>
            </a:pPr>
            <a:r>
              <a:t>THANK YOU • Team Stryker • Problem Statement ID: 26189 • Open for Live Demonstration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