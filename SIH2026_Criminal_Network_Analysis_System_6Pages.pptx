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62" r:id="rId5"/>
    <p:sldId id="263" r:id="rId6"/>
    <p:sldId id="264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82" y="5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shnukant sharma" userId="b0978f70c0b7e60c" providerId="LiveId" clId="{D5AC3541-C01C-4FA2-A26F-5A68DA25AB6E}"/>
    <pc:docChg chg="modSld">
      <pc:chgData name="vishnukant sharma" userId="b0978f70c0b7e60c" providerId="LiveId" clId="{D5AC3541-C01C-4FA2-A26F-5A68DA25AB6E}" dt="2026-09-07T09:54:46.735" v="4" actId="1076"/>
      <pc:docMkLst>
        <pc:docMk/>
      </pc:docMkLst>
      <pc:sldChg chg="modSp mod">
        <pc:chgData name="vishnukant sharma" userId="b0978f70c0b7e60c" providerId="LiveId" clId="{D5AC3541-C01C-4FA2-A26F-5A68DA25AB6E}" dt="2026-09-07T09:54:46.735" v="4" actId="1076"/>
        <pc:sldMkLst>
          <pc:docMk/>
          <pc:sldMk cId="0" sldId="264"/>
        </pc:sldMkLst>
        <pc:spChg chg="mod">
          <ac:chgData name="vishnukant sharma" userId="b0978f70c0b7e60c" providerId="LiveId" clId="{D5AC3541-C01C-4FA2-A26F-5A68DA25AB6E}" dt="2026-09-07T09:54:46.735" v="4" actId="1076"/>
          <ac:spMkLst>
            <pc:docMk/>
            <pc:sldMk cId="0" sldId="264"/>
            <ac:spMk id="3" creationId="{00000000-0000-0000-0000-000000000000}"/>
          </ac:spMkLst>
        </pc:spChg>
        <pc:spChg chg="mod">
          <ac:chgData name="vishnukant sharma" userId="b0978f70c0b7e60c" providerId="LiveId" clId="{D5AC3541-C01C-4FA2-A26F-5A68DA25AB6E}" dt="2026-09-07T09:53:58.518" v="3" actId="20577"/>
          <ac:spMkLst>
            <pc:docMk/>
            <pc:sldMk cId="0" sldId="264"/>
            <ac:spMk id="8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9/7/2026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9/7/2026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xagon 1"/>
          <p:cNvSpPr/>
          <p:nvPr/>
        </p:nvSpPr>
        <p:spPr>
          <a:xfrm>
            <a:off x="5842000" y="889000"/>
            <a:ext cx="4826000" cy="5080000"/>
          </a:xfrm>
          <a:prstGeom prst="hexagon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Segoe UI"/>
              </a:defRPr>
            </a:pPr>
            <a:endParaRPr/>
          </a:p>
        </p:txBody>
      </p:sp>
      <p:pic>
        <p:nvPicPr>
          <p:cNvPr id="3" name="Picture 2" descr="sih_bulb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9000" y="1524000"/>
            <a:ext cx="3111500" cy="3327400"/>
          </a:xfrm>
          <a:prstGeom prst="rect">
            <a:avLst/>
          </a:prstGeom>
        </p:spPr>
      </p:pic>
      <p:pic>
        <p:nvPicPr>
          <p:cNvPr id="4" name="Picture 3" descr="sih_2026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3600" y="101600"/>
            <a:ext cx="2235200" cy="9829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44500" y="254000"/>
            <a:ext cx="9144000" cy="63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F497D"/>
                </a:solidFill>
                <a:latin typeface="Segoe UI"/>
              </a:defRPr>
            </a:pPr>
            <a:r>
              <a:t>SMART INDIA HACKATHON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4500" y="914400"/>
            <a:ext cx="9144000" cy="571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Segoe UI"/>
              </a:defRPr>
            </a:pPr>
            <a:r>
              <a:t>TITLE PAGE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4500" y="1714500"/>
            <a:ext cx="6350000" cy="482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3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800" b="1">
                <a:latin typeface="Calibri"/>
              </a:rPr>
              <a:t>• </a:t>
            </a:r>
            <a:r>
              <a:rPr sz="1750" b="1">
                <a:solidFill>
                  <a:srgbClr val="000000"/>
                </a:solidFill>
                <a:latin typeface="Calibri"/>
              </a:rPr>
              <a:t>Problem Statement ID – 26189</a:t>
            </a:r>
          </a:p>
          <a:p>
            <a:pPr>
              <a:spcBef>
                <a:spcPts val="13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800" b="1">
                <a:latin typeface="Calibri"/>
              </a:rPr>
              <a:t>• </a:t>
            </a:r>
            <a:r>
              <a:rPr sz="1750" b="1">
                <a:solidFill>
                  <a:srgbClr val="000000"/>
                </a:solidFill>
                <a:latin typeface="Calibri"/>
              </a:rPr>
              <a:t>Problem Statement Title - </a:t>
            </a:r>
            <a:r>
              <a:rPr sz="1750" b="0">
                <a:solidFill>
                  <a:srgbClr val="000000"/>
                </a:solidFill>
                <a:latin typeface="Calibri"/>
              </a:rPr>
              <a:t>AI-Powered Criminal Network Analysis System</a:t>
            </a:r>
          </a:p>
          <a:p>
            <a:pPr>
              <a:spcBef>
                <a:spcPts val="13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800" b="1">
                <a:latin typeface="Calibri"/>
              </a:rPr>
              <a:t>• </a:t>
            </a:r>
            <a:r>
              <a:rPr sz="1750" b="1">
                <a:solidFill>
                  <a:srgbClr val="000000"/>
                </a:solidFill>
                <a:latin typeface="Calibri"/>
              </a:rPr>
              <a:t>Theme - Blockchain &amp; Cybersecurity</a:t>
            </a:r>
          </a:p>
          <a:p>
            <a:pPr>
              <a:spcBef>
                <a:spcPts val="13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800" b="1">
                <a:latin typeface="Calibri"/>
              </a:rPr>
              <a:t>• </a:t>
            </a:r>
            <a:r>
              <a:rPr sz="1750" b="1">
                <a:solidFill>
                  <a:srgbClr val="000000"/>
                </a:solidFill>
                <a:latin typeface="Calibri"/>
              </a:rPr>
              <a:t>PS Category - Software</a:t>
            </a:r>
          </a:p>
          <a:p>
            <a:pPr>
              <a:spcBef>
                <a:spcPts val="13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800" b="1">
                <a:latin typeface="Calibri"/>
              </a:rPr>
              <a:t>• </a:t>
            </a:r>
            <a:r>
              <a:rPr sz="1750" b="1">
                <a:solidFill>
                  <a:srgbClr val="000000"/>
                </a:solidFill>
                <a:latin typeface="Calibri"/>
              </a:rPr>
              <a:t>Team ID - SIH2026-ST-842</a:t>
            </a:r>
          </a:p>
          <a:p>
            <a:pPr>
              <a:spcBef>
                <a:spcPts val="13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800" b="1">
                <a:latin typeface="Calibri"/>
              </a:rPr>
              <a:t>• </a:t>
            </a:r>
            <a:r>
              <a:rPr sz="1750" b="1">
                <a:solidFill>
                  <a:srgbClr val="000000"/>
                </a:solidFill>
                <a:latin typeface="Calibri"/>
              </a:rPr>
              <a:t>Team Name (Registered on portal) – Stryker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330200" y="252729"/>
            <a:ext cx="1252220" cy="807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000000"/>
                </a:solidFill>
                <a:latin typeface="Calibri"/>
              </a:defRPr>
            </a:pPr>
            <a:r>
              <a:t>STRYKER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05000" y="101600"/>
            <a:ext cx="8381999" cy="825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200" b="1">
                <a:solidFill>
                  <a:srgbClr val="000000"/>
                </a:solidFill>
                <a:latin typeface="Times New Roman"/>
              </a:defRPr>
            </a:pPr>
            <a:r>
              <a:t>IDEA TITLE</a:t>
            </a:r>
          </a:p>
        </p:txBody>
      </p:sp>
      <p:pic>
        <p:nvPicPr>
          <p:cNvPr id="4" name="Picture 3" descr="sih_2026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3600" y="101600"/>
            <a:ext cx="2235200" cy="9829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355079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540000" y="6400800"/>
            <a:ext cx="7112000" cy="406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Calibri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95000" y="6400800"/>
            <a:ext cx="1143000" cy="406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8770" y="1179830"/>
            <a:ext cx="5608320" cy="492379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81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84200" y="1371600"/>
            <a:ext cx="508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70C0"/>
                </a:solidFill>
                <a:latin typeface="Segoe UI"/>
              </a:defRPr>
            </a:pPr>
            <a:r>
              <a:t>IDEA / SOLUTION :</a:t>
            </a:r>
          </a:p>
          <a:p>
            <a:pPr>
              <a:spcAft>
                <a:spcPts val="800"/>
              </a:spcAft>
              <a:defRPr sz="1200" b="1">
                <a:solidFill>
                  <a:srgbClr val="0E2A55"/>
                </a:solidFill>
                <a:latin typeface="Segoe UI"/>
              </a:defRPr>
            </a:pPr>
            <a:r>
              <a:t>SENTINEL: AI-Powered Platform for Criminal Network Analysis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0E2A55"/>
                </a:solidFill>
                <a:latin typeface="Segoe UI"/>
              </a:rPr>
              <a:t>• Combines Police Clues: </a:t>
            </a:r>
            <a:r>
              <a:rPr sz="1100">
                <a:solidFill>
                  <a:srgbClr val="1E293B"/>
                </a:solidFill>
                <a:latin typeface="Segoe UI"/>
              </a:rPr>
              <a:t>Automatically merges paper FIRs, phone call logs, and bank accounts into one unified visual map.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0E2A55"/>
                </a:solidFill>
                <a:latin typeface="Segoe UI"/>
              </a:rPr>
              <a:t>• Catches Shadow Gang Bosses: </a:t>
            </a:r>
            <a:r>
              <a:rPr sz="1100">
                <a:solidFill>
                  <a:srgbClr val="1E293B"/>
                </a:solidFill>
                <a:latin typeface="Segoe UI"/>
              </a:rPr>
              <a:t>Graph AI algorithms uncover hidden leaders who order crimes without making direct phone calls.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0E2A55"/>
                </a:solidFill>
                <a:latin typeface="Segoe UI"/>
              </a:rPr>
              <a:t>• Tracks Dirty Money: </a:t>
            </a:r>
            <a:r>
              <a:rPr sz="1100">
                <a:solidFill>
                  <a:srgbClr val="1E293B"/>
                </a:solidFill>
                <a:latin typeface="Segoe UI"/>
              </a:rPr>
              <a:t>Detects circular Hawala money loops and layered micro-transfers passed through dummy bank accounts.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0E2A55"/>
                </a:solidFill>
                <a:latin typeface="Segoe UI"/>
              </a:rPr>
              <a:t>• Pinpoints Burner Phones: </a:t>
            </a:r>
            <a:r>
              <a:rPr sz="1100">
                <a:solidFill>
                  <a:srgbClr val="1E293B"/>
                </a:solidFill>
                <a:latin typeface="Segoe UI"/>
              </a:rPr>
              <a:t>Flags SIM card swapping in shared phone handsets and secret nocturnal suspect meetings (&lt;500m).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0E2A55"/>
                </a:solidFill>
                <a:latin typeface="Segoe UI"/>
              </a:rPr>
              <a:t>• CEO Prime Agent Swarm: </a:t>
            </a:r>
            <a:r>
              <a:rPr sz="1100">
                <a:solidFill>
                  <a:srgbClr val="1E293B"/>
                </a:solidFill>
                <a:latin typeface="Segoe UI"/>
              </a:rPr>
              <a:t>Autonomous AI commander directing specialized smart assistants to analyze cases 24/7.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0E2A55"/>
                </a:solidFill>
                <a:latin typeface="Segoe UI"/>
              </a:rPr>
              <a:t>• Court-Certified Proof: </a:t>
            </a:r>
            <a:r>
              <a:rPr sz="1100">
                <a:solidFill>
                  <a:srgbClr val="1E293B"/>
                </a:solidFill>
                <a:latin typeface="Segoe UI"/>
              </a:rPr>
              <a:t>Seals evidence with SHA-256 blockchain hashing meeting 100% Section 63 BSA legal standards.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4910" y="1179830"/>
            <a:ext cx="5608320" cy="492379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81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53200" y="1371600"/>
            <a:ext cx="508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70C0"/>
                </a:solidFill>
                <a:latin typeface="Segoe UI"/>
              </a:defRPr>
            </a:pPr>
            <a:r>
              <a:t>HOW IT SOLVES POLICE CHALLENGES :</a:t>
            </a:r>
          </a:p>
          <a:p>
            <a:pPr>
              <a:spcAft>
                <a:spcPts val="200"/>
              </a:spcAft>
              <a:defRPr sz="1150" b="1">
                <a:solidFill>
                  <a:srgbClr val="0E2A55"/>
                </a:solidFill>
                <a:latin typeface="Segoe UI"/>
              </a:defRPr>
            </a:pPr>
            <a:r>
              <a:t>❖ Breaks Data Silos Across Stations :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  <a:latin typeface="Segoe UI"/>
              </a:defRPr>
            </a:pPr>
            <a:r>
              <a:t>Police currently investigate FIRs, phone call logs, and bank statements in separate files. SENTINEL merges them into one 360° interactive suspect map in seconds.</a:t>
            </a:r>
          </a:p>
          <a:p>
            <a:pPr>
              <a:spcAft>
                <a:spcPts val="200"/>
              </a:spcAft>
              <a:defRPr sz="1150" b="1">
                <a:solidFill>
                  <a:srgbClr val="0E2A55"/>
                </a:solidFill>
                <a:latin typeface="Segoe UI"/>
              </a:defRPr>
            </a:pPr>
            <a:r>
              <a:t>❖ Exposes Masterminds Behind Operatives :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  <a:latin typeface="Segoe UI"/>
              </a:defRPr>
            </a:pPr>
            <a:r>
              <a:t>Crime kingpins rarely get their hands dirty or use known phones. By analyzing connection pathways, the AI pinpoints the hidden mastermind brokers.</a:t>
            </a:r>
          </a:p>
          <a:p>
            <a:pPr>
              <a:spcAft>
                <a:spcPts val="200"/>
              </a:spcAft>
              <a:defRPr sz="1150" b="1">
                <a:solidFill>
                  <a:srgbClr val="0E2A55"/>
                </a:solidFill>
                <a:latin typeface="Segoe UI"/>
              </a:defRPr>
            </a:pPr>
            <a:r>
              <a:t>❖ Autonomous AI Investigation Swarm :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  <a:latin typeface="Segoe UI"/>
              </a:defRPr>
            </a:pPr>
            <a:r>
              <a:t>Replaces slow manual paperwork. The CEO Prime Agent correlates clues across cases, calculates 0–100 danger scores, and alerts investigating officers instantly.</a:t>
            </a:r>
          </a:p>
          <a:p>
            <a:pPr>
              <a:spcAft>
                <a:spcPts val="200"/>
              </a:spcAft>
              <a:defRPr sz="1150" b="1">
                <a:solidFill>
                  <a:srgbClr val="0E2A55"/>
                </a:solidFill>
                <a:latin typeface="Segoe UI"/>
              </a:defRPr>
            </a:pPr>
            <a:r>
              <a:t>❖ Guarantees Strong Court Convictions :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  <a:latin typeface="Segoe UI"/>
              </a:defRPr>
            </a:pPr>
            <a:r>
              <a:t>Digital evidence often fails in court due to disputed tampering. SENTINEL generates tamper-proof PDF dossiers backed by blockchain verification for Section 63 BSA compliance.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330200" y="252729"/>
            <a:ext cx="1252220" cy="807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000000"/>
                </a:solidFill>
                <a:latin typeface="Calibri"/>
              </a:defRPr>
            </a:pPr>
            <a:r>
              <a:t>STRYKER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05000" y="101600"/>
            <a:ext cx="8381999" cy="825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2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4" name="Picture 3" descr="sih_2026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3600" y="101600"/>
            <a:ext cx="2235200" cy="9829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355079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540000" y="6400800"/>
            <a:ext cx="7112000" cy="406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Calibri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95000" y="6400800"/>
            <a:ext cx="1143000" cy="406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pic>
        <p:nvPicPr>
          <p:cNvPr id="8" name="Picture 7" descr="slide_3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06500"/>
            <a:ext cx="11049000" cy="4889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330200" y="252729"/>
            <a:ext cx="1252220" cy="807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000000"/>
                </a:solidFill>
                <a:latin typeface="Calibri"/>
              </a:defRPr>
            </a:pPr>
            <a:r>
              <a:t>STRYKER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05000" y="101600"/>
            <a:ext cx="8381999" cy="825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200" b="1">
                <a:solidFill>
                  <a:srgbClr val="000000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pic>
        <p:nvPicPr>
          <p:cNvPr id="4" name="Picture 3" descr="sih_2026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3600" y="101600"/>
            <a:ext cx="2235200" cy="9829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355079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540000" y="6400800"/>
            <a:ext cx="7112000" cy="406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Calibri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95000" y="6400800"/>
            <a:ext cx="1143000" cy="406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500" y="1206500"/>
            <a:ext cx="5524500" cy="4889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81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98500" y="1397000"/>
            <a:ext cx="5016500" cy="4508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070C0"/>
                </a:solidFill>
                <a:latin typeface="Segoe UI"/>
              </a:defRPr>
            </a:pPr>
            <a:r>
              <a:t>Technical &amp; Station Feasibility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0E2A55"/>
                </a:solidFill>
                <a:latin typeface="Segoe UI"/>
              </a:rPr>
              <a:t>• Runs on Standard Station PCs: </a:t>
            </a:r>
            <a:r>
              <a:rPr sz="1050">
                <a:solidFill>
                  <a:srgbClr val="1E293B"/>
                </a:solidFill>
                <a:latin typeface="Segoe UI"/>
              </a:rPr>
              <a:t>Operates smoothly on normal police desktop computers without expensive cloud GPU clusters.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0E2A55"/>
                </a:solidFill>
                <a:latin typeface="Segoe UI"/>
              </a:rPr>
              <a:t>• Direct Police Data Compatibility: </a:t>
            </a:r>
            <a:r>
              <a:rPr sz="1050">
                <a:solidFill>
                  <a:srgbClr val="1E293B"/>
                </a:solidFill>
                <a:latin typeface="Segoe UI"/>
              </a:rPr>
              <a:t>Natively ingests standard CCTNS FIR exports, telecom CDR spreadsheets, and bank statements.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0E2A55"/>
                </a:solidFill>
                <a:latin typeface="Segoe UI"/>
              </a:rPr>
              <a:t>• Sub-Second Graph Query Speed: </a:t>
            </a:r>
            <a:r>
              <a:rPr sz="1050">
                <a:solidFill>
                  <a:srgbClr val="1E293B"/>
                </a:solidFill>
                <a:latin typeface="Segoe UI"/>
              </a:rPr>
              <a:t>Traverses complex networks of 10,000+ suspects in under 250 milliseconds (&lt;0.25s).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0E2A55"/>
                </a:solidFill>
                <a:latin typeface="Segoe UI"/>
              </a:rPr>
              <a:t>• Zero-Gas Blockchain Security: </a:t>
            </a:r>
            <a:r>
              <a:rPr sz="1050">
                <a:solidFill>
                  <a:srgbClr val="1E293B"/>
                </a:solidFill>
                <a:latin typeface="Segoe UI"/>
              </a:rPr>
              <a:t>Cryptographic SHA-256 hash chains guarantee court evidence integrity without cloud fees.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000" y="1206500"/>
            <a:ext cx="5524500" cy="1905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81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7000" y="1333500"/>
            <a:ext cx="5016500" cy="165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B45309"/>
                </a:solidFill>
                <a:latin typeface="Segoe UI"/>
              </a:defRPr>
            </a:pPr>
            <a:r>
              <a:t>Economic Feasibility &amp; Manpower Savings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E2A55"/>
                </a:solidFill>
                <a:latin typeface="Segoe UI"/>
              </a:rPr>
              <a:t>• 100% Open-Source Foundation: </a:t>
            </a:r>
            <a:r>
              <a:rPr sz="1000">
                <a:solidFill>
                  <a:srgbClr val="1E293B"/>
                </a:solidFill>
                <a:latin typeface="Segoe UI"/>
              </a:rPr>
              <a:t>Built using FastAPI, NetworkX, and React 19—zero expensive recurring software licenses.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E2A55"/>
                </a:solidFill>
                <a:latin typeface="Segoe UI"/>
              </a:rPr>
              <a:t>• Compresses Weeks to Seconds: </a:t>
            </a:r>
            <a:r>
              <a:rPr sz="1000">
                <a:solidFill>
                  <a:srgbClr val="1E293B"/>
                </a:solidFill>
                <a:latin typeface="Segoe UI"/>
              </a:rPr>
              <a:t>Replaces weeks of manual paper cross-checking with instant automated intelligence.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E2A55"/>
                </a:solidFill>
                <a:latin typeface="Segoe UI"/>
              </a:rPr>
              <a:t>• Multiplies Police Productivity: </a:t>
            </a:r>
            <a:r>
              <a:rPr sz="1000">
                <a:solidFill>
                  <a:srgbClr val="1E293B"/>
                </a:solidFill>
                <a:latin typeface="Segoe UI"/>
              </a:rPr>
              <a:t>Allows lean investigative teams to crack large, multi-state organized crime syndicates.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23000" y="3302000"/>
            <a:ext cx="5524500" cy="2794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81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77000" y="3454400"/>
            <a:ext cx="5016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047857"/>
                </a:solidFill>
                <a:latin typeface="Segoe UI"/>
              </a:defRPr>
            </a:pPr>
            <a:r>
              <a:t>Real-World Challenges &amp; Practical Solutions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E2A55"/>
                </a:solidFill>
                <a:latin typeface="Segoe UI"/>
              </a:rPr>
              <a:t>• Messy &amp; Dialect FIR Text: </a:t>
            </a:r>
            <a:r>
              <a:rPr sz="1000">
                <a:solidFill>
                  <a:srgbClr val="1E293B"/>
                </a:solidFill>
                <a:latin typeface="Segoe UI"/>
              </a:rPr>
              <a:t>Indian police FIRs contain spelling errors and local slang. Solved with custom Legal AI Named Entity Recognition + fuzzy matching (&gt;88% accuracy).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E2A55"/>
                </a:solidFill>
                <a:latin typeface="Segoe UI"/>
              </a:rPr>
              <a:t>• Massive Telecom &amp; Bank Volume: </a:t>
            </a:r>
            <a:r>
              <a:rPr sz="1000">
                <a:solidFill>
                  <a:srgbClr val="1E293B"/>
                </a:solidFill>
                <a:latin typeface="Segoe UI"/>
              </a:rPr>
              <a:t>Handling millions of call and transfer records without lag. Solved via indexed SQLite WAL and fast in-memory graph caching.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330200" y="252729"/>
            <a:ext cx="1252220" cy="807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000000"/>
                </a:solidFill>
                <a:latin typeface="Calibri"/>
              </a:defRPr>
            </a:pPr>
            <a:r>
              <a:t>STRYKER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05000" y="101600"/>
            <a:ext cx="8381999" cy="825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2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4" name="Picture 3" descr="sih_2026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3600" y="101600"/>
            <a:ext cx="2235200" cy="9829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355079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540000" y="6400800"/>
            <a:ext cx="7112000" cy="406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Calibri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95000" y="6400800"/>
            <a:ext cx="1143000" cy="406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>
                <a:solidFill>
                  <a:srgbClr val="FFFFFF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500" y="1206500"/>
            <a:ext cx="6667500" cy="4889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81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6600" y="1397000"/>
            <a:ext cx="6096000" cy="4508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800"/>
              </a:spcAft>
              <a:defRPr sz="1600" b="1">
                <a:solidFill>
                  <a:srgbClr val="0070C0"/>
                </a:solidFill>
                <a:latin typeface="Segoe UI"/>
              </a:defRPr>
            </a:pPr>
            <a:r>
              <a:t>Benefits Across the Criminal Justice System</a:t>
            </a:r>
          </a:p>
          <a:p>
            <a:pPr>
              <a:spcAft>
                <a:spcPts val="400"/>
              </a:spcAft>
              <a:defRPr sz="1200" b="1">
                <a:solidFill>
                  <a:srgbClr val="0E2A55"/>
                </a:solidFill>
                <a:latin typeface="Segoe UI"/>
              </a:defRPr>
            </a:pPr>
            <a:r>
              <a:t>Law Enforcement &amp; Frontline Police Officers :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0E2A55"/>
                </a:solidFill>
                <a:latin typeface="Segoe UI"/>
              </a:rPr>
              <a:t>• 1-Click Suspect Network Expansion: </a:t>
            </a:r>
            <a:r>
              <a:rPr sz="1050">
                <a:solidFill>
                  <a:srgbClr val="1E293B"/>
                </a:solidFill>
                <a:latin typeface="Segoe UI"/>
              </a:rPr>
              <a:t>Instantly reveals hidden gang associates, burner phones, and money trails.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0E2A55"/>
                </a:solidFill>
                <a:latin typeface="Segoe UI"/>
              </a:rPr>
              <a:t>• Unmasks Shadow Kingpins: </a:t>
            </a:r>
            <a:r>
              <a:rPr sz="1050">
                <a:solidFill>
                  <a:srgbClr val="1E293B"/>
                </a:solidFill>
                <a:latin typeface="Segoe UI"/>
              </a:rPr>
              <a:t>Exposes gang bosses who orchestrate crimes without making direct phone calls.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0E2A55"/>
                </a:solidFill>
                <a:latin typeface="Segoe UI"/>
              </a:rPr>
              <a:t>• Multi-Station Collaboration: </a:t>
            </a:r>
            <a:r>
              <a:rPr sz="1050">
                <a:solidFill>
                  <a:srgbClr val="1E293B"/>
                </a:solidFill>
                <a:latin typeface="Segoe UI"/>
              </a:rPr>
              <a:t>Breaks jurisdiction barriers by linking shared vehicles, weapons, and safehouses.</a:t>
            </a:r>
          </a:p>
          <a:p>
            <a:pPr>
              <a:spcAft>
                <a:spcPts val="400"/>
              </a:spcAft>
              <a:defRPr sz="1200" b="1">
                <a:solidFill>
                  <a:srgbClr val="0E2A55"/>
                </a:solidFill>
                <a:latin typeface="Segoe UI"/>
              </a:defRPr>
            </a:pPr>
            <a:r>
              <a:t>Crime Intelligence Analysts :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0E2A55"/>
                </a:solidFill>
                <a:latin typeface="Segoe UI"/>
              </a:rPr>
              <a:t>• Autonomous Multi-Agent Swarm: </a:t>
            </a:r>
            <a:r>
              <a:rPr sz="1050">
                <a:solidFill>
                  <a:srgbClr val="1E293B"/>
                </a:solidFill>
                <a:latin typeface="Segoe UI"/>
              </a:rPr>
              <a:t>CEO Prime Agent automates tedious cross-referencing across FIRs and telecom logs.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0E2A55"/>
                </a:solidFill>
                <a:latin typeface="Segoe UI"/>
              </a:rPr>
              <a:t>• Automated 0–100 Threat Scoring: </a:t>
            </a:r>
            <a:r>
              <a:rPr sz="1050">
                <a:solidFill>
                  <a:srgbClr val="1E293B"/>
                </a:solidFill>
                <a:latin typeface="Segoe UI"/>
              </a:rPr>
              <a:t>Prioritizes violent offenders and automatically detects Hawala laundering cycles.</a:t>
            </a:r>
          </a:p>
          <a:p>
            <a:pPr>
              <a:spcAft>
                <a:spcPts val="400"/>
              </a:spcAft>
              <a:defRPr sz="1200" b="1">
                <a:solidFill>
                  <a:srgbClr val="0E2A55"/>
                </a:solidFill>
                <a:latin typeface="Segoe UI"/>
              </a:defRPr>
            </a:pPr>
            <a:r>
              <a:t>Judiciary &amp; Legal Prosecution :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0E2A55"/>
                </a:solidFill>
                <a:latin typeface="Segoe UI"/>
              </a:rPr>
              <a:t>• 100% Section 63 BSA Compliance: </a:t>
            </a:r>
            <a:r>
              <a:rPr sz="1050">
                <a:solidFill>
                  <a:srgbClr val="1E293B"/>
                </a:solidFill>
                <a:latin typeface="Segoe UI"/>
              </a:rPr>
              <a:t>Cryptographic SHA-256 blockchain proof guarantees court admissibility.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0E2A55"/>
                </a:solidFill>
                <a:latin typeface="Segoe UI"/>
              </a:rPr>
              <a:t>• Rapid Charge-Sheet Preparation: </a:t>
            </a:r>
            <a:r>
              <a:rPr sz="1050">
                <a:solidFill>
                  <a:srgbClr val="1E293B"/>
                </a:solidFill>
                <a:latin typeface="Segoe UI"/>
              </a:rPr>
              <a:t>Generates certified forensic PDF dossiers that accelerate trials and eliminate delays.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6000" y="1841500"/>
            <a:ext cx="4381500" cy="3175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81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20000" y="1968500"/>
            <a:ext cx="3873499" cy="292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1800"/>
              </a:spcAft>
              <a:defRPr sz="1500" b="1" i="1">
                <a:solidFill>
                  <a:srgbClr val="0070C0"/>
                </a:solidFill>
                <a:latin typeface="Segoe UI"/>
              </a:defRPr>
            </a:pPr>
            <a:r>
              <a:t>“SENTINEL transforms fragmented police records into real-time operational clarity—unmasking shadow kingpins, stopping dirty money trails, and delivering faster, bulletproof convictions.”</a:t>
            </a:r>
          </a:p>
          <a:p>
            <a:pPr algn="ctr">
              <a:spcAft>
                <a:spcPts val="800"/>
              </a:spcAft>
              <a:defRPr sz="1300" b="1">
                <a:solidFill>
                  <a:srgbClr val="0E2A55"/>
                </a:solidFill>
                <a:latin typeface="Segoe UI"/>
              </a:defRPr>
            </a:pPr>
            <a:r>
              <a:t>KEY OPERATIONAL OUTCOMES</a:t>
            </a:r>
          </a:p>
          <a:p>
            <a:pPr algn="ctr">
              <a:spcAft>
                <a:spcPts val="600"/>
              </a:spcAft>
            </a:pPr>
            <a:r>
              <a:rPr sz="1100" b="1">
                <a:solidFill>
                  <a:srgbClr val="047857"/>
                </a:solidFill>
                <a:latin typeface="Segoe UI"/>
              </a:rPr>
              <a:t>⚡ 90% Time Reduction : </a:t>
            </a:r>
            <a:r>
              <a:rPr sz="1050">
                <a:solidFill>
                  <a:srgbClr val="1E293B"/>
                </a:solidFill>
                <a:latin typeface="Segoe UI"/>
              </a:rPr>
              <a:t>From weeks of paper cross-checking to seconds of graph analytics.</a:t>
            </a:r>
          </a:p>
          <a:p>
            <a:pPr algn="ctr">
              <a:spcAft>
                <a:spcPts val="600"/>
              </a:spcAft>
            </a:pPr>
            <a:r>
              <a:rPr sz="1100" b="1">
                <a:solidFill>
                  <a:srgbClr val="047857"/>
                </a:solidFill>
                <a:latin typeface="Segoe UI"/>
              </a:rPr>
              <a:t>🎯 100% Chain-of-Custody : </a:t>
            </a:r>
            <a:r>
              <a:rPr sz="1050">
                <a:solidFill>
                  <a:srgbClr val="1E293B"/>
                </a:solidFill>
                <a:latin typeface="Segoe UI"/>
              </a:rPr>
              <a:t>Cryptographically sealed under Section 63 BSA for undisputed trials.</a:t>
            </a:r>
          </a:p>
          <a:p>
            <a:pPr algn="ctr">
              <a:spcAft>
                <a:spcPts val="600"/>
              </a:spcAft>
            </a:pPr>
            <a:r>
              <a:rPr sz="1100" b="1">
                <a:solidFill>
                  <a:srgbClr val="047857"/>
                </a:solidFill>
                <a:latin typeface="Segoe UI"/>
              </a:rPr>
              <a:t>🔍 Zero Kingpin Blindspots : </a:t>
            </a:r>
            <a:r>
              <a:rPr sz="1050">
                <a:solidFill>
                  <a:srgbClr val="1E293B"/>
                </a:solidFill>
                <a:latin typeface="Segoe UI"/>
              </a:rPr>
              <a:t>Algorithmic unmasking of shadow brokers coordinating street operatives.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330200" y="252729"/>
            <a:ext cx="1252220" cy="807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000000"/>
                </a:solidFill>
                <a:latin typeface="Calibri"/>
              </a:defRPr>
            </a:pPr>
            <a:r>
              <a:t>STRYKER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82420" y="101600"/>
            <a:ext cx="8381999" cy="825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Georgia"/>
              </a:defRPr>
            </a:pPr>
            <a:r>
              <a:rPr dirty="0"/>
              <a:t>RESEARCH, REFERENCES &amp; CONCLUSION</a:t>
            </a:r>
          </a:p>
        </p:txBody>
      </p:sp>
      <p:pic>
        <p:nvPicPr>
          <p:cNvPr id="4" name="Picture 3" descr="sih_2026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3600" y="101600"/>
            <a:ext cx="2235200" cy="9829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355079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540000" y="6400800"/>
            <a:ext cx="7112000" cy="406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Calibri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95000" y="6400800"/>
            <a:ext cx="1143000" cy="406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>
                <a:solidFill>
                  <a:srgbClr val="FFFFFF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0000" y="1849743"/>
            <a:ext cx="9652000" cy="32855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0070C0"/>
                </a:solidFill>
                <a:latin typeface="Segoe UI"/>
              </a:defRPr>
            </a:pPr>
            <a:r>
              <a:rPr dirty="0"/>
              <a:t>Academic, Legal &amp; Operational Frameworks</a:t>
            </a:r>
          </a:p>
          <a:p>
            <a:pPr>
              <a:spcAft>
                <a:spcPts val="200"/>
              </a:spcAft>
              <a:defRPr sz="1150" b="1">
                <a:solidFill>
                  <a:srgbClr val="0E2A55"/>
                </a:solidFill>
                <a:latin typeface="Segoe UI"/>
              </a:defRPr>
            </a:pPr>
            <a:r>
              <a:rPr dirty="0"/>
              <a:t>1. Network Science &amp; Covert Syndicate Analysis :</a:t>
            </a:r>
          </a:p>
          <a:p>
            <a:pPr>
              <a:spcAft>
                <a:spcPts val="700"/>
              </a:spcAft>
              <a:defRPr sz="1050">
                <a:solidFill>
                  <a:srgbClr val="1E293B"/>
                </a:solidFill>
                <a:latin typeface="Segoe UI"/>
              </a:defRPr>
            </a:pPr>
            <a:r>
              <a:rPr dirty="0"/>
              <a:t>Betweenness Centrality (Freeman, 1977) &amp; PageRank algorithms optimized for identifying high-influence brokers and shadow leaders in criminal networks.</a:t>
            </a:r>
          </a:p>
          <a:p>
            <a:pPr>
              <a:spcAft>
                <a:spcPts val="200"/>
              </a:spcAft>
              <a:defRPr sz="1150" b="1">
                <a:solidFill>
                  <a:srgbClr val="0E2A55"/>
                </a:solidFill>
                <a:latin typeface="Segoe UI"/>
              </a:defRPr>
            </a:pPr>
            <a:r>
              <a:rPr dirty="0"/>
              <a:t>2. Multi-Agent Autonomous Intelligence :</a:t>
            </a:r>
          </a:p>
          <a:p>
            <a:pPr>
              <a:spcAft>
                <a:spcPts val="700"/>
              </a:spcAft>
              <a:defRPr sz="1050">
                <a:solidFill>
                  <a:srgbClr val="1E293B"/>
                </a:solidFill>
                <a:latin typeface="Segoe UI"/>
              </a:defRPr>
            </a:pPr>
            <a:r>
              <a:rPr dirty="0"/>
              <a:t>Agency Swarm orchestration architecture dividing investigative labor among specialized autonomous agents (Data Intel, Network Analysis, Threat Scoring, Forensic Reporting).</a:t>
            </a:r>
          </a:p>
          <a:p>
            <a:pPr>
              <a:spcAft>
                <a:spcPts val="200"/>
              </a:spcAft>
              <a:defRPr sz="1150" b="1">
                <a:solidFill>
                  <a:srgbClr val="0E2A55"/>
                </a:solidFill>
                <a:latin typeface="Segoe UI"/>
              </a:defRPr>
            </a:pPr>
            <a:r>
              <a:rPr dirty="0"/>
              <a:t>3. Indian Statutory Forensic Standards :</a:t>
            </a:r>
          </a:p>
          <a:p>
            <a:pPr>
              <a:spcAft>
                <a:spcPts val="700"/>
              </a:spcAft>
              <a:defRPr sz="1050">
                <a:solidFill>
                  <a:srgbClr val="1E293B"/>
                </a:solidFill>
                <a:latin typeface="Segoe UI"/>
              </a:defRPr>
            </a:pPr>
            <a:r>
              <a:rPr dirty="0"/>
              <a:t>Section 63 of Bharatiya </a:t>
            </a:r>
            <a:r>
              <a:rPr dirty="0" err="1"/>
              <a:t>Sakshya</a:t>
            </a:r>
            <a:r>
              <a:rPr lang="en-US" dirty="0"/>
              <a:t> </a:t>
            </a:r>
            <a:r>
              <a:rPr dirty="0" err="1"/>
              <a:t>Adhiniyam</a:t>
            </a:r>
            <a:r>
              <a:rPr dirty="0"/>
              <a:t> (BSA, 2023) / Section 65B Indian Evidence Act compliant digital hash chains ensuring tamper-evident chain of custody.</a:t>
            </a:r>
          </a:p>
          <a:p>
            <a:pPr>
              <a:spcAft>
                <a:spcPts val="200"/>
              </a:spcAft>
              <a:defRPr sz="1150" b="1">
                <a:solidFill>
                  <a:srgbClr val="0E2A55"/>
                </a:solidFill>
                <a:latin typeface="Segoe UI"/>
              </a:defRPr>
            </a:pPr>
            <a:r>
              <a:rPr dirty="0"/>
              <a:t>4. Financial Crime &amp; Hawala Detection :</a:t>
            </a:r>
          </a:p>
          <a:p>
            <a:pPr>
              <a:spcAft>
                <a:spcPts val="700"/>
              </a:spcAft>
              <a:defRPr sz="1050">
                <a:solidFill>
                  <a:srgbClr val="1E293B"/>
                </a:solidFill>
                <a:latin typeface="Segoe UI"/>
              </a:defRPr>
            </a:pPr>
            <a:r>
              <a:rPr dirty="0"/>
              <a:t>Financial Action Task Force (FATF) and Reserve Bank of India (RBI) typologies for detecting circular layering loops and smurfing transactions (&lt;₹50,000 threshold).</a:t>
            </a:r>
          </a:p>
          <a:p>
            <a:pPr>
              <a:spcAft>
                <a:spcPts val="1000"/>
              </a:spcAft>
            </a:pPr>
            <a:r>
              <a:rPr sz="1200" b="1" dirty="0">
                <a:solidFill>
                  <a:srgbClr val="047857"/>
                </a:solidFill>
                <a:latin typeface="Segoe UI"/>
              </a:rPr>
              <a:t>⚡ Working Prototype Status: </a:t>
            </a:r>
            <a:r>
              <a:rPr sz="1150" dirty="0">
                <a:solidFill>
                  <a:srgbClr val="1E293B"/>
                </a:solidFill>
                <a:latin typeface="Segoe UI"/>
              </a:rPr>
              <a:t>Live full-stack </a:t>
            </a:r>
            <a:r>
              <a:rPr sz="1150" dirty="0" err="1">
                <a:solidFill>
                  <a:srgbClr val="1E293B"/>
                </a:solidFill>
                <a:latin typeface="Segoe UI"/>
              </a:rPr>
              <a:t>FastAPI</a:t>
            </a:r>
            <a:r>
              <a:rPr sz="1150" dirty="0">
                <a:solidFill>
                  <a:srgbClr val="1E293B"/>
                </a:solidFill>
                <a:latin typeface="Segoe UI"/>
              </a:rPr>
              <a:t> + React 19 platform pre-loaded with 372 suspect nodes and 869 evidence links. Ready for live demonstration.</a:t>
            </a:r>
          </a:p>
          <a:p>
            <a:pPr algn="ctr">
              <a:defRPr sz="1400" b="1">
                <a:solidFill>
                  <a:srgbClr val="0070C0"/>
                </a:solidFill>
                <a:latin typeface="Segoe UI"/>
              </a:defRPr>
            </a:pPr>
            <a:r>
              <a:rPr dirty="0"/>
              <a:t>THANK YOU • Team Stryker • Problem Statement ID: 26189 • Open for Live Demonstration &amp;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7571</TotalTime>
  <Words>979</Words>
  <Application>Microsoft Office PowerPoint</Application>
  <PresentationFormat>Widescreen</PresentationFormat>
  <Paragraphs>84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Segoe UI</vt:lpstr>
      <vt:lpstr>TradeGothic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vishnukant sharma</cp:lastModifiedBy>
  <cp:revision>147</cp:revision>
  <dcterms:created xsi:type="dcterms:W3CDTF">2013-12-12T18:46:50Z</dcterms:created>
  <dcterms:modified xsi:type="dcterms:W3CDTF">2026-09-07T09:54:48Z</dcterms:modified>
  <cp:category/>
</cp:coreProperties>
</file>