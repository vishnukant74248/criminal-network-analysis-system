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842000" y="889000"/>
            <a:ext cx="4826000" cy="5080000"/>
          </a:xfrm>
          <a:prstGeom prst="hexagon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_bulb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524000"/>
            <a:ext cx="3111500" cy="3327400"/>
          </a:xfrm>
          <a:prstGeom prst="rect">
            <a:avLst/>
          </a:prstGeom>
        </p:spPr>
      </p:pic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4500" y="254000"/>
            <a:ext cx="9144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97D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914400"/>
            <a:ext cx="9144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1714500"/>
            <a:ext cx="6350000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spcAft>
                <a:spcPts val="200"/>
              </a:spcAft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Problem Statement ID – </a:t>
            </a:r>
            <a:r>
              <a:rPr b="1" sz="1750">
                <a:solidFill>
                  <a:srgbClr val="000000"/>
                </a:solidFill>
                <a:latin typeface="Calibri"/>
              </a:rPr>
              <a:t>26189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Problem Statement Title - </a:t>
            </a:r>
            <a:r>
              <a:rPr b="0" sz="1750">
                <a:solidFill>
                  <a:srgbClr val="000000"/>
                </a:solidFill>
                <a:latin typeface="Calibri"/>
              </a:rPr>
              <a:t>AI-Powered Criminal Network Analysis System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Theme - </a:t>
            </a:r>
            <a:r>
              <a:rPr b="1" sz="1750">
                <a:solidFill>
                  <a:srgbClr val="000000"/>
                </a:solidFill>
                <a:latin typeface="Calibri"/>
              </a:rPr>
              <a:t>Blockchain &amp; Cybersecurity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PS Category - </a:t>
            </a:r>
            <a:r>
              <a:rPr b="1" sz="1750">
                <a:solidFill>
                  <a:srgbClr val="000000"/>
                </a:solidFill>
                <a:latin typeface="Calibri"/>
              </a:rPr>
              <a:t>Software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Team ID - </a:t>
            </a:r>
            <a:r>
              <a:rPr b="1" sz="1750">
                <a:solidFill>
                  <a:srgbClr val="000000"/>
                </a:solidFill>
                <a:latin typeface="Calibri"/>
              </a:rPr>
              <a:t>SIH2026-ST-842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Team Name (Registered on portal) – </a:t>
            </a:r>
            <a:r>
              <a:rPr b="1" sz="1750">
                <a:solidFill>
                  <a:srgbClr val="000000"/>
                </a:solidFill>
                <a:latin typeface="Calibri"/>
              </a:rPr>
              <a:t>Stryker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IDEA TITLE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770" y="1179830"/>
            <a:ext cx="5608320" cy="492379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200" y="1371600"/>
            <a:ext cx="508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70C0"/>
                </a:solidFill>
                <a:latin typeface="Calibri"/>
              </a:defRPr>
            </a:pPr>
            <a:r>
              <a:t>IDEA / SOLUTION :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SENTINEL: AI-Powered Intelligence Platform for Real-Time Criminal Network Analysis &amp; Crime Deterrence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100"/>
              <a:t>• </a:t>
            </a:r>
            <a:r>
              <a:rPr b="1" sz="1100">
                <a:solidFill>
                  <a:srgbClr val="0F172A"/>
                </a:solidFill>
                <a:latin typeface="Calibri"/>
              </a:rPr>
              <a:t>Unified Knowledge Graph : </a:t>
            </a:r>
            <a:r>
              <a:rPr sz="1000">
                <a:solidFill>
                  <a:srgbClr val="475569"/>
                </a:solidFill>
                <a:latin typeface="Calibri"/>
              </a:rPr>
              <a:t>Fuses police FIRs, phone call records (CDRs), bank accounts, and video feeds into one real-time network.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100"/>
              <a:t>• </a:t>
            </a:r>
            <a:r>
              <a:rPr b="1" sz="1100">
                <a:solidFill>
                  <a:srgbClr val="0F172A"/>
                </a:solidFill>
                <a:latin typeface="Calibri"/>
              </a:rPr>
              <a:t>Kingpin &amp; Boss Discovery : </a:t>
            </a:r>
            <a:r>
              <a:rPr sz="1000">
                <a:solidFill>
                  <a:srgbClr val="475569"/>
                </a:solidFill>
                <a:latin typeface="Calibri"/>
              </a:rPr>
              <a:t>Graph centrality algorithms automatically uncover covert syndicate leaders hiding behind operatives.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100"/>
              <a:t>• </a:t>
            </a:r>
            <a:r>
              <a:rPr b="1" sz="1100">
                <a:solidFill>
                  <a:srgbClr val="0F172A"/>
                </a:solidFill>
                <a:latin typeface="Calibri"/>
              </a:rPr>
              <a:t>Hawala &amp; AML Detection : </a:t>
            </a:r>
            <a:r>
              <a:rPr sz="1000">
                <a:solidFill>
                  <a:srgbClr val="475569"/>
                </a:solidFill>
                <a:latin typeface="Calibri"/>
              </a:rPr>
              <a:t>Detects 4-node circular money loops (&lt;72h) and smurfing transfers below ₹50,000 threshold.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100"/>
              <a:t>• </a:t>
            </a:r>
            <a:r>
              <a:rPr b="1" sz="1100">
                <a:solidFill>
                  <a:srgbClr val="0F172A"/>
                </a:solidFill>
                <a:latin typeface="Calibri"/>
              </a:rPr>
              <a:t>Burner Phone Triangulation : </a:t>
            </a:r>
            <a:r>
              <a:rPr sz="1000">
                <a:solidFill>
                  <a:srgbClr val="475569"/>
                </a:solidFill>
                <a:latin typeface="Calibri"/>
              </a:rPr>
              <a:t>Tracks shared mobile handsets (IMEI reuse) and co-located nocturnal meetings (&lt;500m).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100"/>
              <a:t>• </a:t>
            </a:r>
            <a:r>
              <a:rPr b="1" sz="1100">
                <a:solidFill>
                  <a:srgbClr val="0F172A"/>
                </a:solidFill>
                <a:latin typeface="Calibri"/>
              </a:rPr>
              <a:t/>
            </a:r>
            <a:r>
              <a:rPr sz="1000">
                <a:solidFill>
                  <a:srgbClr val="475569"/>
                </a:solidFill>
                <a:latin typeface="Calibri"/>
              </a:rPr>
              <a:t/>
            </a:r>
            <a:r>
              <a:rPr b="1" sz="1100">
                <a:latin typeface="Calibri"/>
              </a:rPr>
              <a:t>CEO Prime Agent Swarm : </a:t>
            </a:r>
            <a:r>
              <a:rPr b="0" sz="1000">
                <a:latin typeface="Calibri"/>
              </a:rPr>
              <a:t>Autonomous multi-agent coordination commanding DataIntel, NetworkAnalyst, ThreatScoring, and Report agents.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100"/>
              <a:t>• </a:t>
            </a:r>
            <a:r>
              <a:rPr b="1" sz="1100">
                <a:solidFill>
                  <a:srgbClr val="0F172A"/>
                </a:solidFill>
                <a:latin typeface="Calibri"/>
              </a:rPr>
              <a:t>Statutory Evidence Vault : </a:t>
            </a:r>
            <a:r>
              <a:rPr sz="1000">
                <a:solidFill>
                  <a:srgbClr val="475569"/>
                </a:solidFill>
                <a:latin typeface="Calibri"/>
              </a:rPr>
              <a:t>Cryptographic SHA-256 blockchain ledger ensuring 100% Section 63 BSA / 65B IEA court admissibility.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4910" y="1179830"/>
            <a:ext cx="5608320" cy="492379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200" y="1371600"/>
            <a:ext cx="508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70C0"/>
                </a:solidFill>
                <a:latin typeface="Calibri"/>
              </a:defRPr>
            </a:pPr>
            <a:r>
              <a:t>PROBLEM RESOLUTION :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200">
                <a:solidFill>
                  <a:srgbClr val="0070C0"/>
                </a:solidFill>
              </a:rPr>
              <a:t>❖ </a:t>
            </a:r>
            <a:r>
              <a:rPr b="1" sz="1200">
                <a:solidFill>
                  <a:srgbClr val="0F172A"/>
                </a:solidFill>
                <a:latin typeface="Calibri"/>
              </a:rPr>
              <a:t>Breaks Data Silos : 
</a:t>
            </a:r>
            <a:r>
              <a:rPr sz="1050">
                <a:solidFill>
                  <a:srgbClr val="475569"/>
                </a:solidFill>
                <a:latin typeface="Calibri"/>
              </a:rPr>
              <a:t>Police usually examine FIRs, phone logs, and bank statements in isolation. SENTINEL automatically merges fragmented clues into an interactive 360° map in seconds.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200">
                <a:solidFill>
                  <a:srgbClr val="0070C0"/>
                </a:solidFill>
              </a:rPr>
              <a:t>❖ </a:t>
            </a:r>
            <a:r>
              <a:rPr b="1" sz="1200">
                <a:solidFill>
                  <a:srgbClr val="0F172A"/>
                </a:solidFill>
                <a:latin typeface="Calibri"/>
              </a:rPr>
              <a:t>Exposes Hidden Syndicate Bosses : 
</a:t>
            </a:r>
            <a:r>
              <a:rPr sz="1050">
                <a:solidFill>
                  <a:srgbClr val="475569"/>
                </a:solidFill>
                <a:latin typeface="Calibri"/>
              </a:rPr>
              <a:t>Crime kingpins rarely use their own phones. Advanced Betweenness Centrality and PageRank expose the mastermind brokers coordinating criminal activities.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200">
                <a:solidFill>
                  <a:srgbClr val="0070C0"/>
                </a:solidFill>
              </a:rPr>
              <a:t>❖ </a:t>
            </a:r>
            <a:r>
              <a:rPr b="1" sz="1200">
                <a:solidFill>
                  <a:srgbClr val="0F172A"/>
                </a:solidFill>
                <a:latin typeface="Calibri"/>
              </a:rPr>
              <a:t/>
            </a:r>
            <a:r>
              <a:rPr sz="1050">
                <a:solidFill>
                  <a:srgbClr val="475569"/>
                </a:solidFill>
                <a:latin typeface="Calibri"/>
              </a:rPr>
              <a:t/>
            </a:r>
            <a:r>
              <a:rPr b="1" sz="1200">
                <a:latin typeface="Calibri"/>
              </a:rPr>
              <a:t>Autonomous Multi-Agent Investigation : 
</a:t>
            </a:r>
            <a:r>
              <a:rPr b="0" sz="1050">
                <a:latin typeface="Calibri"/>
              </a:rPr>
              <a:t>Replaces manual investigative bottlenecks with autonomous AI agent coordination—CEO Prime Agent correlates multi-source signals, computes 0-100 threat scores, and flags high-priority syndicate targets.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200">
                <a:solidFill>
                  <a:srgbClr val="0070C0"/>
                </a:solidFill>
              </a:rPr>
              <a:t>❖ </a:t>
            </a:r>
            <a:r>
              <a:rPr b="1" sz="1200">
                <a:solidFill>
                  <a:srgbClr val="0F172A"/>
                </a:solidFill>
                <a:latin typeface="Calibri"/>
              </a:rPr>
              <a:t>Guarantees Court Convictions : 
</a:t>
            </a:r>
            <a:r>
              <a:rPr sz="1050">
                <a:solidFill>
                  <a:srgbClr val="475569"/>
                </a:solidFill>
                <a:latin typeface="Calibri"/>
              </a:rPr>
              <a:t>Digital evidence often fails in court due to broken chain of custody. SENTINEL creates Section 63 BSA certified PDF dossiers with SHA-256 blockchain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pic>
        <p:nvPicPr>
          <p:cNvPr id="8" name="Picture 7" descr="slide_3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6500"/>
            <a:ext cx="110490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pic>
        <p:nvPicPr>
          <p:cNvPr id="8" name="Picture 7" descr="slide_4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6500"/>
            <a:ext cx="110490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pic>
        <p:nvPicPr>
          <p:cNvPr id="8" name="Picture 7" descr="slide_5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206500"/>
            <a:ext cx="107950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 STACK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120" y="1206500"/>
            <a:ext cx="5665470" cy="4889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600" y="1422400"/>
            <a:ext cx="51054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70C0"/>
                </a:solidFill>
                <a:latin typeface="Calibri"/>
              </a:defRPr>
            </a:pPr>
            <a:r>
              <a:t>Frontend Dashboard 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React 19, TypeScript, Vite – </a:t>
            </a:r>
            <a:r>
              <a:rPr sz="950">
                <a:solidFill>
                  <a:srgbClr val="475569"/>
                </a:solidFill>
                <a:latin typeface="Calibri"/>
              </a:rPr>
              <a:t>High-performance responsive tactical UI built for police control room command.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Tailwind CSS – </a:t>
            </a:r>
            <a:r>
              <a:rPr sz="950">
                <a:solidFill>
                  <a:srgbClr val="475569"/>
                </a:solidFill>
                <a:latin typeface="Calibri"/>
              </a:rPr>
              <a:t>Low-light dark tactical theme reducing officer eye fatigue.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Cytoscape.js &amp; Leaflet.js – </a:t>
            </a:r>
            <a:r>
              <a:rPr sz="950">
                <a:solidFill>
                  <a:srgbClr val="475569"/>
                </a:solidFill>
                <a:latin typeface="Calibri"/>
              </a:rPr>
              <a:t>Interactive 2D/3D suspect graph networks and geo-spatial cell tower tracking.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70C0"/>
                </a:solidFill>
                <a:latin typeface="Calibri"/>
              </a:defRPr>
            </a:pPr>
            <a:r>
              <a:t>Backend + Intelligence Core 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FastAPI (Python 3.12) – </a:t>
            </a:r>
            <a:r>
              <a:rPr sz="950">
                <a:solidFill>
                  <a:srgbClr val="475569"/>
                </a:solidFill>
                <a:latin typeface="Calibri"/>
              </a:rPr>
              <a:t>Ultra-fast asynchronous REST APIs with sub-millisecond query latency.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NetworkX MultiDiGraph – </a:t>
            </a:r>
            <a:r>
              <a:rPr sz="950">
                <a:solidFill>
                  <a:srgbClr val="475569"/>
                </a:solidFill>
                <a:latin typeface="Calibri"/>
              </a:rPr>
              <a:t>In-memory graph engine managing 372 nodes, 869 edges and centrality metrics.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SQLite WAL + Blockchain Hash Chain – </a:t>
            </a:r>
            <a:r>
              <a:rPr sz="950">
                <a:solidFill>
                  <a:srgbClr val="475569"/>
                </a:solidFill>
                <a:latin typeface="Calibri"/>
              </a:rPr>
              <a:t>Thread-safe data storage with SHA-256 evidence sealing.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/>
            </a:r>
            <a:r>
              <a:rPr sz="950">
                <a:solidFill>
                  <a:srgbClr val="475569"/>
                </a:solidFill>
                <a:latin typeface="Calibri"/>
              </a:rPr>
              <a:t/>
            </a:r>
            <a:r>
              <a:rPr b="1" sz="1000">
                <a:latin typeface="Calibri"/>
              </a:rPr>
              <a:t>Agency Swarm &amp; spaCy NLP – </a:t>
            </a:r>
            <a:r>
              <a:rPr b="0" sz="950">
                <a:latin typeface="Calibri"/>
              </a:rPr>
              <a:t>CEO Prime Agent multi-agent orchestration &amp; automated IndianLawNER entity extraction.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70C0"/>
                </a:solidFill>
                <a:latin typeface="Calibri"/>
              </a:defRPr>
            </a:pPr>
            <a:r>
              <a:t>Statutory Legal Vault 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ReportLab Forensic Engine – </a:t>
            </a:r>
            <a:r>
              <a:rPr sz="950">
                <a:solidFill>
                  <a:srgbClr val="475569"/>
                </a:solidFill>
                <a:latin typeface="Calibri"/>
              </a:rPr>
              <a:t>Generates court-certified Section 63 BSA dossiers with QR code verification.</a:t>
            </a:r>
          </a:p>
        </p:txBody>
      </p:sp>
      <p:pic>
        <p:nvPicPr>
          <p:cNvPr id="10" name="Picture 9" descr="slide_6_tech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06500"/>
            <a:ext cx="55245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500" y="1206500"/>
            <a:ext cx="5524500" cy="4889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1397000"/>
            <a:ext cx="50165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70C0"/>
                </a:solidFill>
                <a:latin typeface="Calibri"/>
              </a:defRPr>
            </a:pPr>
            <a:r>
              <a:t>Technical Feasibility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Uses proven open-source frameworks – FastAPI, React 19, NetworkX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Direct compatibility with police CCTNS and telecom CDR exports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Prime Agent multi-agent swarm runs efficiently on standard workstation CPUs / GPUs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Cryptographic SHA-256 ledger ensures 100% zero-gas data integrity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600" b="1">
                <a:solidFill>
                  <a:srgbClr val="0070C0"/>
                </a:solidFill>
                <a:latin typeface="Calibri"/>
              </a:defRPr>
            </a:pPr>
            <a:r>
              <a:t>Economic Feasibility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Zero expensive software licenses or cloud vendor lock-in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Directly leverages existing police CCTNS infrastructure, telecom CDR logs &amp; standard department PCs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Compresses weeks of manual investigative analysis into seconds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Drastically reduces police manpower costs during major syndicate probes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000" y="1206500"/>
            <a:ext cx="5524500" cy="1905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0" y="1333500"/>
            <a:ext cx="5016500" cy="165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“The solution is technically robust, low-cost, and operationally practical—enabling law enforcement to dismantle organized crime syndicates faster through autonomous multi-agent intelligence.”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000" y="3302000"/>
            <a:ext cx="5524500" cy="279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0" y="3454400"/>
            <a:ext cx="501650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70C0"/>
                </a:solidFill>
                <a:latin typeface="Calibri"/>
              </a:defRPr>
            </a:pPr>
            <a:r>
              <a:t>Challenges &amp; Strategies</a:t>
            </a:r>
          </a:p>
          <a:p>
            <a:pPr>
              <a:spcBef>
                <a:spcPts val="400"/>
              </a:spcBef>
            </a:pPr>
            <a:r>
              <a:rPr b="1"/>
              <a:t>• </a:t>
            </a:r>
            <a:r>
              <a:rPr b="1" sz="1050">
                <a:solidFill>
                  <a:srgbClr val="0F172A"/>
                </a:solidFill>
                <a:latin typeface="Calibri"/>
              </a:rPr>
              <a:t>Unstructured Police Data – </a:t>
            </a:r>
            <a:r>
              <a:rPr sz="950">
                <a:solidFill>
                  <a:srgbClr val="475569"/>
                </a:solidFill>
              </a:rPr>
              <a:t>FIRs contain spelling mistakes, slang, and varied dialects. </a:t>
            </a:r>
            <a:r>
              <a:rPr sz="950" b="1">
                <a:solidFill>
                  <a:srgbClr val="0070C0"/>
                </a:solidFill>
              </a:rPr>
              <a:t>Solved via AI Named Entity Recognition + Jaro-Winkler fuzzy deduplication (&gt;88%).</a:t>
            </a:r>
          </a:p>
          <a:p>
            <a:pPr>
              <a:spcBef>
                <a:spcPts val="400"/>
              </a:spcBef>
            </a:pPr>
            <a:r>
              <a:rPr b="1"/>
              <a:t>• </a:t>
            </a:r>
            <a:r>
              <a:rPr b="1" sz="1050">
                <a:solidFill>
                  <a:srgbClr val="0F172A"/>
                </a:solidFill>
                <a:latin typeface="Calibri"/>
              </a:rPr>
              <a:t>Massive CDR &amp; Financial Scale – </a:t>
            </a:r>
            <a:r>
              <a:rPr sz="950">
                <a:solidFill>
                  <a:srgbClr val="475569"/>
                </a:solidFill>
              </a:rPr>
              <a:t>Correlating millions of call records without lag. </a:t>
            </a:r>
            <a:r>
              <a:rPr sz="950" b="1">
                <a:solidFill>
                  <a:srgbClr val="0070C0"/>
                </a:solidFill>
              </a:rPr>
              <a:t>Solved via in-memory graph caching &amp; SQLite WAL indexing for sub-millisecond lookups.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500" y="1206500"/>
            <a:ext cx="6667500" cy="4889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600" y="1397000"/>
            <a:ext cx="60960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500" b="1">
                <a:solidFill>
                  <a:srgbClr val="0070C0"/>
                </a:solidFill>
                <a:latin typeface="Calibri"/>
              </a:defRPr>
            </a:pPr>
            <a:r>
              <a:t>Law Enforcement &amp; Police Officers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1-click network expansion reveals 2-hop associates, burner phones, and money trails.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Automatically identifies shadow kingpins who never make direct phone calls.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Collaborative case board eliminates inter-departmental communication delays.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1">
                <a:solidFill>
                  <a:srgbClr val="0070C0"/>
                </a:solidFill>
                <a:latin typeface="Calibri"/>
              </a:defRPr>
            </a:pPr>
            <a:r>
              <a:t>Intelligence Analysts &amp; Investigators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CEO Prime Agent automates tedious cross-referencing across FIRs, CDRs, and bank ledgers.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Multi-agent swarm auto-calculates threat scores (0-100) and uncovers hidden Hawala laundering loops.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Cross-case linking surfaces shared burner phones, vehicles, and safehouses across jurisdictions.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1">
                <a:solidFill>
                  <a:srgbClr val="0070C0"/>
                </a:solidFill>
                <a:latin typeface="Calibri"/>
              </a:defRPr>
            </a:pPr>
            <a:r>
              <a:t>Judiciary &amp; Legal Prosecution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100% tamper-evident digital evidence meeting Section 63 BSA / 65B IEA standards.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Court-ready forensic PDF dossiers accelerate trials and eliminate chargesheet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6000" y="1841500"/>
            <a:ext cx="4381500" cy="3175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0" y="1968500"/>
            <a:ext cx="3873499" cy="292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“SENTINEL transforms fragmented crime records into real-time operational clarity—unmasking shadow kingpins, disrupting criminal syndicates, and accelerating the delivery of justice.”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1905000"/>
            <a:ext cx="9652000" cy="31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400"/>
              </a:spcAft>
              <a:defRPr sz="5400" b="1">
                <a:solidFill>
                  <a:srgbClr val="000000"/>
                </a:solidFill>
                <a:latin typeface="Times New Roman"/>
              </a:defRPr>
            </a:pPr>
            <a:r>
              <a:t>THANK YOU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0070C0"/>
                </a:solidFill>
                <a:latin typeface="Calibri"/>
              </a:defRPr>
            </a:pPr>
            <a:r>
              <a:t>SENTINEL v2.0 – AI-Powered Criminal Network Analysis System</a:t>
            </a:r>
          </a:p>
          <a:p>
            <a:pPr algn="ctr">
              <a:spcAft>
                <a:spcPts val="1200"/>
              </a:spcAft>
              <a:defRPr sz="1500">
                <a:solidFill>
                  <a:srgbClr val="475569"/>
                </a:solidFill>
                <a:latin typeface="Calibri"/>
              </a:defRPr>
            </a:pPr>
            <a:r>
              <a:t>Team Stryker • Problem Statement ID: 26189</a:t>
            </a:r>
          </a:p>
          <a:p>
            <a:pPr algn="ctr">
              <a:defRPr sz="1400" i="1">
                <a:solidFill>
                  <a:srgbClr val="0F172A"/>
                </a:solidFill>
                <a:latin typeface="Calibri"/>
              </a:defRPr>
            </a:pPr>
            <a:r>
              <a:t>Open for Questions &amp; Live System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