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/>
          <p:cNvSpPr/>
          <p:nvPr/>
        </p:nvSpPr>
        <p:spPr>
          <a:xfrm>
            <a:off x="5842000" y="889000"/>
            <a:ext cx="4826000" cy="5080000"/>
          </a:xfrm>
          <a:prstGeom prst="hexagon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_bulb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524000"/>
            <a:ext cx="3111500" cy="3327400"/>
          </a:xfrm>
          <a:prstGeom prst="rect">
            <a:avLst/>
          </a:prstGeom>
        </p:spPr>
      </p:pic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500" y="254000"/>
            <a:ext cx="9144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SMART INDIA 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914400"/>
            <a:ext cx="9144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714500"/>
            <a:ext cx="63500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Problem Statement ID – 26189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Problem Statement Title - </a:t>
            </a:r>
            <a:r>
              <a:rPr sz="1750" b="0" dirty="0">
                <a:solidFill>
                  <a:srgbClr val="000000"/>
                </a:solidFill>
                <a:latin typeface="Calibri"/>
              </a:rPr>
              <a:t>AI-Powered Criminal Network Analysis System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Theme - Blockchain &amp; Cybersecurity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PS Category - Software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Team ID - SIH2025-CC-842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sz="1800" b="1" dirty="0">
                <a:latin typeface="Calibri"/>
              </a:rPr>
              <a:t>• </a:t>
            </a:r>
            <a:r>
              <a:rPr sz="1750" b="1" dirty="0">
                <a:solidFill>
                  <a:srgbClr val="000000"/>
                </a:solidFill>
                <a:latin typeface="Calibri"/>
              </a:rPr>
              <a:t>Team Name – </a:t>
            </a:r>
            <a:r>
              <a:rPr lang="en-IN" sz="1750" b="1" dirty="0">
                <a:solidFill>
                  <a:srgbClr val="000000"/>
                </a:solidFill>
                <a:latin typeface="Calibri"/>
              </a:rPr>
              <a:t>Stryker</a:t>
            </a:r>
            <a:endParaRPr sz="1750" b="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IDEA TITLE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770" y="1179829"/>
            <a:ext cx="5608320" cy="399193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4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rPr dirty="0"/>
              <a:t>IDEA / SOLUTION :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rPr dirty="0"/>
              <a:t>SENTINEL: AI-Powered Intelligence Platform for Real-Time Criminal Network Analysis &amp; Crime Deterrence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Unified Knowledge Graph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Fuses police FIRs, phone call records (CDRs), bank accounts, and video feeds into one real-time network.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Kingpin &amp; Boss Discovery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Graph centrality algorithms automatically uncover covert syndicate leaders hiding behind operatives.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Hawala &amp; AML Detection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Detects 4-node circular money loops (&lt;72h) and smurfing transfers below ₹50,000 threshold.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Burner Phone Triangulation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Tracks shared mobile handsets (IMEI reuse) and co-located nocturnal meetings (&lt;500m).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Women Safety Edge AI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Live CCTV monitoring detects stalking and cornering with 1-click Dial 112 PCR dispatch.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1" dirty="0"/>
              <a:t>• </a:t>
            </a:r>
            <a:r>
              <a:rPr sz="1100" b="1" dirty="0">
                <a:solidFill>
                  <a:srgbClr val="0F172A"/>
                </a:solidFill>
                <a:latin typeface="Calibri"/>
              </a:rPr>
              <a:t>Statutory Evidence Vault : </a:t>
            </a:r>
            <a:r>
              <a:rPr sz="1000" dirty="0">
                <a:solidFill>
                  <a:srgbClr val="475569"/>
                </a:solidFill>
                <a:latin typeface="Calibri"/>
              </a:rPr>
              <a:t>Cryptographic SHA-256 blockchain ledger ensuring 100% Section 63 BSA / 65B IEA court admissibility.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4910" y="1179830"/>
            <a:ext cx="5368290" cy="399193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3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rPr dirty="0"/>
              <a:t>PROBLEM RESOLUTION 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1" dirty="0">
                <a:solidFill>
                  <a:srgbClr val="0070C0"/>
                </a:solidFill>
              </a:rPr>
              <a:t>❖ 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Breaks Data Silos : 
</a:t>
            </a:r>
            <a:r>
              <a:rPr sz="1050" dirty="0">
                <a:solidFill>
                  <a:srgbClr val="475569"/>
                </a:solidFill>
                <a:latin typeface="Calibri"/>
              </a:rPr>
              <a:t>Police usually examine FIRs, phone logs, and bank statements in isolation. SENTINEL automatically merges fragmented clues into an interactive 360° map in seconds.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1" dirty="0">
                <a:solidFill>
                  <a:srgbClr val="0070C0"/>
                </a:solidFill>
              </a:rPr>
              <a:t>❖ 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Exposes Hidden Syndicate Bosses : 
</a:t>
            </a:r>
            <a:r>
              <a:rPr sz="1050" dirty="0">
                <a:solidFill>
                  <a:srgbClr val="475569"/>
                </a:solidFill>
                <a:latin typeface="Calibri"/>
              </a:rPr>
              <a:t>Crime kingpins rarely use their own phones. Advanced Betweenness Centrality and PageRank expose the mastermind brokers coordinating criminal activities.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1" dirty="0">
                <a:solidFill>
                  <a:srgbClr val="0070C0"/>
                </a:solidFill>
              </a:rPr>
              <a:t>❖ 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Stops Crime in Real-Time : 
</a:t>
            </a:r>
            <a:r>
              <a:rPr sz="1050" dirty="0">
                <a:solidFill>
                  <a:srgbClr val="475569"/>
                </a:solidFill>
                <a:latin typeface="Calibri"/>
              </a:rPr>
              <a:t>Shifts law enforcement from slow post-crime investigation to proactive live deterrence—flagging threats and dispatching emergency PCR vans in &lt; 4 minutes.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1" dirty="0">
                <a:solidFill>
                  <a:srgbClr val="0070C0"/>
                </a:solidFill>
              </a:rPr>
              <a:t>❖ </a:t>
            </a:r>
            <a:r>
              <a:rPr sz="1200" b="1" dirty="0">
                <a:solidFill>
                  <a:srgbClr val="0F172A"/>
                </a:solidFill>
                <a:latin typeface="Calibri"/>
              </a:rPr>
              <a:t>Guarantees Court Convictions : 
</a:t>
            </a:r>
            <a:r>
              <a:rPr sz="1050" dirty="0">
                <a:solidFill>
                  <a:srgbClr val="475569"/>
                </a:solidFill>
                <a:latin typeface="Calibri"/>
              </a:rPr>
              <a:t>Digital evidence often fails in court due to broken chain of custody. SENTINEL creates Section 63 BSA certified PDF dossiers with SHA-256 blockchain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8" name="Picture 7" descr="slide_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8" name="Picture 7" descr="slide_4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8" name="Picture 7" descr="slide_5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143951"/>
            <a:ext cx="11423445" cy="51741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 STACK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120" y="1206500"/>
            <a:ext cx="5389880" cy="355231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600" y="1422400"/>
            <a:ext cx="51054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Frontend Dashboard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React 19, TypeScript, Vite – </a:t>
            </a:r>
            <a:r>
              <a:rPr sz="950">
                <a:solidFill>
                  <a:srgbClr val="475569"/>
                </a:solidFill>
                <a:latin typeface="Calibri"/>
              </a:rPr>
              <a:t>High-performance responsive tactical UI built for police control room command.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Tailwind CSS – </a:t>
            </a:r>
            <a:r>
              <a:rPr sz="950">
                <a:solidFill>
                  <a:srgbClr val="475569"/>
                </a:solidFill>
                <a:latin typeface="Calibri"/>
              </a:rPr>
              <a:t>Low-light dark tactical theme reducing officer eye fatigue.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Cytoscape.js &amp; Leaflet.js – </a:t>
            </a:r>
            <a:r>
              <a:rPr sz="950">
                <a:solidFill>
                  <a:srgbClr val="475569"/>
                </a:solidFill>
                <a:latin typeface="Calibri"/>
              </a:rPr>
              <a:t>Interactive 2D/3D suspect graph networks and geo-spatial cell tower tracking.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Backend + Intelligence Core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FastAPI (Python 3.12) – </a:t>
            </a:r>
            <a:r>
              <a:rPr sz="950">
                <a:solidFill>
                  <a:srgbClr val="475569"/>
                </a:solidFill>
                <a:latin typeface="Calibri"/>
              </a:rPr>
              <a:t>Ultra-fast asynchronous REST APIs with sub-millisecond query latency.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NetworkX MultiDiGraph – </a:t>
            </a:r>
            <a:r>
              <a:rPr sz="950">
                <a:solidFill>
                  <a:srgbClr val="475569"/>
                </a:solidFill>
                <a:latin typeface="Calibri"/>
              </a:rPr>
              <a:t>In-memory graph engine managing 372 nodes, 869 edges and centrality metrics.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SQLite WAL + Blockchain Hash Chain – </a:t>
            </a:r>
            <a:r>
              <a:rPr sz="950">
                <a:solidFill>
                  <a:srgbClr val="475569"/>
                </a:solidFill>
                <a:latin typeface="Calibri"/>
              </a:rPr>
              <a:t>Thread-safe data storage with SHA-256 evidence sealing.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YOLO &amp; spaCy NLP – </a:t>
            </a:r>
            <a:r>
              <a:rPr sz="950">
                <a:solidFill>
                  <a:srgbClr val="475569"/>
                </a:solidFill>
                <a:latin typeface="Calibri"/>
              </a:rPr>
              <a:t>Real-time gender classification edge AI &amp; automated FIR entity extraction.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Statutory Legal Vault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1"/>
              <a:t>• </a:t>
            </a:r>
            <a:r>
              <a:rPr sz="1000" b="1">
                <a:solidFill>
                  <a:srgbClr val="0F172A"/>
                </a:solidFill>
                <a:latin typeface="Calibri"/>
              </a:rPr>
              <a:t>ReportLab Forensic Engine – </a:t>
            </a:r>
            <a:r>
              <a:rPr sz="950">
                <a:solidFill>
                  <a:srgbClr val="475569"/>
                </a:solidFill>
                <a:latin typeface="Calibri"/>
              </a:rPr>
              <a:t>Generates court-certified Section 63 BSA dossiers with QR code verification.</a:t>
            </a:r>
          </a:p>
        </p:txBody>
      </p:sp>
      <p:pic>
        <p:nvPicPr>
          <p:cNvPr id="10" name="Picture 9" descr="slide_6_tech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6500"/>
            <a:ext cx="55245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4579784" cy="296417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500" y="1397000"/>
            <a:ext cx="50165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Technical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Uses proven open-source frameworks – FastAPI, React 19, NetworkX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 compatibility with police CCTNS and telecom CDR exports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Edge AI runs efficiently on existing workstation CPUs / GPUs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Cryptographic SHA-256 ledger ensures 100% zero-gas data integrity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Economic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Zero expensive software licenses or cloud vendor lock-in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Directly leverages city CCTV cameras &amp; standard police PC hardware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Compresses weeks of manual investigative analysis into seconds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Drastically reduces police manpower costs during major syndicate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1206500"/>
            <a:ext cx="5524500" cy="190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7000" y="1333500"/>
            <a:ext cx="5016500" cy="165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“The solution is technically robust, low-cost, and operationally practical—enabling police to dismantle syndicates faster while protecting vulnerable citizens.”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3302000"/>
            <a:ext cx="55245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7000" y="3454400"/>
            <a:ext cx="5016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Challenges &amp; Strategies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Unstructured Police Data – </a:t>
            </a:r>
            <a:r>
              <a:rPr sz="950">
                <a:solidFill>
                  <a:srgbClr val="475569"/>
                </a:solidFill>
              </a:rPr>
              <a:t>FIRs contain spelling mistakes, slang, and varied dialects. </a:t>
            </a:r>
            <a:r>
              <a:rPr sz="950" b="1">
                <a:solidFill>
                  <a:srgbClr val="0070C0"/>
                </a:solidFill>
              </a:rPr>
              <a:t>Solved via AI Named Entity Recognition + Jaro-Winkler fuzzy deduplication (&gt;88%).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sz="1050" b="1">
                <a:solidFill>
                  <a:srgbClr val="0F172A"/>
                </a:solidFill>
                <a:latin typeface="Calibri"/>
              </a:rPr>
              <a:t>Massive CDR &amp; Financial Scale – </a:t>
            </a:r>
            <a:r>
              <a:rPr sz="950">
                <a:solidFill>
                  <a:srgbClr val="475569"/>
                </a:solidFill>
              </a:rPr>
              <a:t>Correlating millions of call records without lag. </a:t>
            </a:r>
            <a:r>
              <a:rPr sz="950" b="1">
                <a:solidFill>
                  <a:srgbClr val="0070C0"/>
                </a:solidFill>
              </a:rPr>
              <a:t>Solved via in-memory graph caching &amp; SQLite WAL indexing for sub-millisecond lookups.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2599" y="1183968"/>
            <a:ext cx="5613401" cy="34568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600" y="1396999"/>
            <a:ext cx="6629399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rPr dirty="0"/>
              <a:t>Law Enforcement &amp; Police Officers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1-click network expansion reveals 2-hop associates, burner phones, and money trails.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Automatically identifies shadow kingpins who never make direct phone calls.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Collaborative case board eliminates inter-departmental communication delays.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rPr dirty="0"/>
              <a:t>Women &amp; Vulnerable Citizens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Autonomous CCTV monitoring detects stalking, cornering, and distress in deserted transit zones.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1-click Dial 112 PCR dispatch sends emergency patrol units within 3.5 minutes.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Proactive crime deterrence prevents harassment before physical harm occurs.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rPr dirty="0"/>
              <a:t>Judiciary &amp; Legal Prosecution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100% tamper-evident digital evidence meeting Section 63 BSA / 65B IEA standards.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rPr dirty="0"/>
              <a:t>• Court-ready forensic PDF dossiers accelerate trials and eliminate chargesheet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1841500"/>
            <a:ext cx="4381500" cy="317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0" y="1968500"/>
            <a:ext cx="3873499" cy="292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“SENTINEL transforms fragmented crime records into real-time operational clarity—protecting vulnerable citizens, disrupting criminal syndicates, and accelerating the delivery of justice.”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Team</a:t>
            </a:r>
          </a:p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rPr lang="en-IN" dirty="0"/>
              <a:t>Stryker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endParaRPr/>
          </a:p>
        </p:txBody>
      </p:sp>
      <p:pic>
        <p:nvPicPr>
          <p:cNvPr id="4" name="Picture 3" descr="slide_1_Pictur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0" y="57150"/>
            <a:ext cx="2209800" cy="11226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2448624"/>
            <a:ext cx="9652000" cy="2087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  <a:defRPr sz="54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THANK YOU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0C0"/>
                </a:solidFill>
                <a:latin typeface="Calibri"/>
              </a:defRPr>
            </a:pPr>
            <a:r>
              <a:rPr dirty="0"/>
              <a:t>SENTINEL v2.0 – AI-Powered Criminal Network Analysis System</a:t>
            </a:r>
            <a:endParaRPr lang="en-IN" dirty="0"/>
          </a:p>
          <a:p>
            <a:pPr algn="ctr">
              <a:spcAft>
                <a:spcPts val="12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rPr lang="en-IN" dirty="0"/>
              <a:t>• Problem Statement ID: 26189</a:t>
            </a:r>
          </a:p>
          <a:p>
            <a:pPr algn="ctr">
              <a:defRPr sz="1400" i="1">
                <a:solidFill>
                  <a:srgbClr val="0F172A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7504</TotalTime>
  <Words>865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Ashwini kumar</cp:lastModifiedBy>
  <cp:revision>149</cp:revision>
  <dcterms:created xsi:type="dcterms:W3CDTF">2013-12-12T18:46:50Z</dcterms:created>
  <dcterms:modified xsi:type="dcterms:W3CDTF">2026-09-06T16:30:10Z</dcterms:modified>
  <cp:category/>
</cp:coreProperties>
</file>